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7" r:id="rId3"/>
    <p:sldId id="271" r:id="rId4"/>
    <p:sldId id="272" r:id="rId5"/>
    <p:sldId id="273" r:id="rId6"/>
    <p:sldId id="274" r:id="rId7"/>
    <p:sldId id="279" r:id="rId8"/>
    <p:sldId id="275" r:id="rId9"/>
    <p:sldId id="276" r:id="rId10"/>
    <p:sldId id="277" r:id="rId11"/>
    <p:sldId id="278" r:id="rId12"/>
    <p:sldId id="28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85AD"/>
    <a:srgbClr val="E1D5E7"/>
    <a:srgbClr val="7EA6E0"/>
    <a:srgbClr val="4472C4"/>
    <a:srgbClr val="730003"/>
    <a:srgbClr val="A20025"/>
    <a:srgbClr val="88B76D"/>
    <a:srgbClr val="FFFFFF"/>
    <a:srgbClr val="D5E8D4"/>
    <a:srgbClr val="BE62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3077" autoAdjust="0"/>
  </p:normalViewPr>
  <p:slideViewPr>
    <p:cSldViewPr snapToGrid="0">
      <p:cViewPr varScale="1">
        <p:scale>
          <a:sx n="58" d="100"/>
          <a:sy n="58" d="100"/>
        </p:scale>
        <p:origin x="1278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A1656-2985-447C-B24C-8A869EE40B2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87791-6838-41C3-A5CD-3796849178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12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89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901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13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974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262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55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15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23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070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769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969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87791-6838-41C3-A5CD-3796849178D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727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D3AAC-3A3C-DC49-7C00-5C06C9E5C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8967DC-4F99-B1C4-C80A-701505A13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2CDEEC-70FF-52A0-A2F2-0D938F32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0AE9D-53CC-73AC-03FB-521BA408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B0FA56-B006-6D45-1028-7B437F3B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58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0FA0C8-A883-9BFA-309C-07E69086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76E2F-EAF0-7A2B-50EC-D0BACA8C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EF70B-8425-6C2D-F083-E1DE6899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E7867-EA03-642A-81C9-0072F473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C4B78-E162-D6AC-A677-56575844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6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DEE8F-4178-8292-9D68-A6DE855F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616C55-3988-CC2E-4205-0360E66A6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2453E-4A4E-5A32-DBF0-51EE0C1A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541436-C066-F6A4-E95D-C69EABA7A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D978A-9659-2D68-3B9D-8698D439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32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29100-0328-C0A6-ACA1-D29507B5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5711B-50D0-5E49-DD2C-8D7CE349F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7008CC-AA7F-6442-AEBE-108D6B0E4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0C03DD-ACE8-DBA0-F0DD-3D175F2F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A0451-9ACA-52E6-2E89-7F307C66E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2C89BA-75B4-E1BD-5178-49F47877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69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80CFE-677A-368C-69E6-DD9A3402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900CC6-C0E6-CF93-1C6C-3459C484D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1801C7-DA6B-9737-EEE4-C36B11C6E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44470F-A7C2-B99E-CA88-D0C7616F3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700C9C-D6E0-C9A2-43CA-931B98700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E20783-DEC3-7F38-21FE-7C080F32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24F8B0-7E79-300B-F27C-5059EF6A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BB86CF-CFC2-5A96-0AAC-FF7AF180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57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D8969-6E37-C16C-A761-B1A91B40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7FD3B1-C704-5615-E170-4FA53876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BF86AF-E946-5EDE-B4CF-0E41E793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3CE5C6-4F5F-D45F-E8BB-1297B144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35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9D4D7E-94A5-F4FB-5031-B96BDF80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77254A-8F2F-07DB-55DD-0F4949D1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3406C5-2EE0-2ED2-55A8-8967C8AB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17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98085-633B-4EB3-0D60-E64C8C32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095478-6E65-83C4-45CF-50204514A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195FEF-A036-A626-1F67-AF0B510FE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FCCE3B-7DAD-7218-E333-910B832D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5056D-29BF-6333-2D84-870A989D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DF026-674D-2A70-F59B-12299C5F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922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C1E51-DA65-5675-DA54-616446A4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7BC34F-8FAD-4008-2854-1BCB768DA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1B874B-7DB8-9DD2-9D0F-D6157B25C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C0CF6E-C2A5-E3AA-64D2-7A14DC98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3D0EB-BE6F-92C8-2EA3-0C37977A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80CEB3-CAFF-4F15-A956-68C6F8AA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2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52868-231D-7A97-594C-F2E1143D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E56A51-7D24-3273-617C-F54A90979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361D5A-2535-F4E0-DE99-08457288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238F32-A26B-8CC2-26C0-F7C7DA84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B1321-738A-0022-A9E2-B98961D6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70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ACBF20-D5A9-FAF9-4C83-39E37A9C2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11807A-19D3-94C5-E1FA-3C66EB3FA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B1065-F457-876F-4BF3-C3F40DD6D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79C48-496E-6B52-9AAC-B9C7317D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406EE2-EEB0-3E49-B79F-4A30B52D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8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FA7BF5-26DC-688B-506A-091AAB87B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043D29-1F98-9CF8-EF76-1DCD0FD3F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EA01DD-F5BB-0D0F-1710-86D939118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03FD4-E34C-4F66-9756-5EC696ED0C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7F124-1030-02AD-220B-F9AC71309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A0EA4E-44DC-43B4-41DC-CF00E723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7B1E9-5C43-40BC-A286-1C011CC38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1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space.bilibili.com/1218001833" TargetMode="External"/><Relationship Id="rId3" Type="http://schemas.openxmlformats.org/officeDocument/2006/relationships/notesSlide" Target="../notesSlides/notesSlide12.xml"/><Relationship Id="rId7" Type="http://schemas.openxmlformats.org/officeDocument/2006/relationships/hyperlink" Target="https://github.com/czyt1988/data-workbench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hyperlink" Target="https://gitee.com/kcja/openlaser" TargetMode="External"/><Relationship Id="rId5" Type="http://schemas.openxmlformats.org/officeDocument/2006/relationships/hyperlink" Target="https://gitee.com/DISOGitee/FastCAE" TargetMode="External"/><Relationship Id="rId4" Type="http://schemas.openxmlformats.org/officeDocument/2006/relationships/hyperlink" Target="https://github.com/Kinvy66/freecaeworkben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60A30654-8C05-4525-8676-B1A39E0DA203}"/>
              </a:ext>
            </a:extLst>
          </p:cNvPr>
          <p:cNvGrpSpPr/>
          <p:nvPr/>
        </p:nvGrpSpPr>
        <p:grpSpPr>
          <a:xfrm>
            <a:off x="4217487" y="1766356"/>
            <a:ext cx="6854695" cy="3234790"/>
            <a:chOff x="4236537" y="2315383"/>
            <a:chExt cx="6854695" cy="323479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7092D44-8136-4052-866D-5EC591898789}"/>
                </a:ext>
              </a:extLst>
            </p:cNvPr>
            <p:cNvSpPr/>
            <p:nvPr/>
          </p:nvSpPr>
          <p:spPr>
            <a:xfrm>
              <a:off x="4236537" y="2566138"/>
              <a:ext cx="6854695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b="1" dirty="0">
                  <a:solidFill>
                    <a:srgbClr val="368C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Free CAE Workbench </a:t>
              </a:r>
            </a:p>
            <a:p>
              <a:r>
                <a:rPr lang="zh-CN" altLang="en-US" sz="4000" b="1" dirty="0">
                  <a:solidFill>
                    <a:srgbClr val="368C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前后处理软件架构与使用简介</a:t>
              </a: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4649609-957F-431F-A20A-3027A8B5BDE8}"/>
                </a:ext>
              </a:extLst>
            </p:cNvPr>
            <p:cNvGrpSpPr/>
            <p:nvPr/>
          </p:nvGrpSpPr>
          <p:grpSpPr>
            <a:xfrm>
              <a:off x="4236537" y="2315383"/>
              <a:ext cx="6151345" cy="1771526"/>
              <a:chOff x="6285365" y="4226502"/>
              <a:chExt cx="4623736" cy="1719875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B9C739D-B26A-4A35-BE90-3E74E1689AF2}"/>
                  </a:ext>
                </a:extLst>
              </p:cNvPr>
              <p:cNvSpPr/>
              <p:nvPr/>
            </p:nvSpPr>
            <p:spPr>
              <a:xfrm>
                <a:off x="6285365" y="4226502"/>
                <a:ext cx="4559300" cy="17336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FA4FD9E-C326-4942-AAE8-430CA7C06B10}"/>
                  </a:ext>
                </a:extLst>
              </p:cNvPr>
              <p:cNvSpPr/>
              <p:nvPr/>
            </p:nvSpPr>
            <p:spPr>
              <a:xfrm flipV="1">
                <a:off x="6349801" y="5773017"/>
                <a:ext cx="4559300" cy="17336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EF1C708-88D1-4C0D-B88D-8DC7B701A983}"/>
                </a:ext>
              </a:extLst>
            </p:cNvPr>
            <p:cNvSpPr/>
            <p:nvPr/>
          </p:nvSpPr>
          <p:spPr>
            <a:xfrm>
              <a:off x="4413380" y="4066477"/>
              <a:ext cx="6282199" cy="38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C66BB5F-FE05-4F58-9885-F105037D98CB}"/>
                </a:ext>
              </a:extLst>
            </p:cNvPr>
            <p:cNvSpPr txBox="1"/>
            <p:nvPr/>
          </p:nvSpPr>
          <p:spPr>
            <a:xfrm>
              <a:off x="4322262" y="4646904"/>
              <a:ext cx="30977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汇报人：</a:t>
              </a:r>
              <a:r>
                <a:rPr lang="en-US" altLang="zh-CN" sz="2000" spc="3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Kinvy.Q</a:t>
              </a:r>
              <a:endPara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50DBD0E-F057-4AA5-AFC1-B760CDD08CA4}"/>
                </a:ext>
              </a:extLst>
            </p:cNvPr>
            <p:cNvSpPr txBox="1"/>
            <p:nvPr/>
          </p:nvSpPr>
          <p:spPr>
            <a:xfrm>
              <a:off x="4322262" y="5150063"/>
              <a:ext cx="30977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  间：</a:t>
              </a:r>
              <a:r>
                <a:rPr lang="en-US" altLang="zh-CN" sz="2000" spc="3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2025.12.16</a:t>
              </a:r>
              <a:endParaRPr lang="zh-CN" altLang="en-US" sz="2000" spc="3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F6CA09B2-ACCA-C2EC-4E08-1F4ECAAA9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25" y="1684344"/>
            <a:ext cx="1927606" cy="20502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F06EBC0-86E3-D776-CDF9-D4BEA17E7D82}"/>
              </a:ext>
            </a:extLst>
          </p:cNvPr>
          <p:cNvSpPr txBox="1"/>
          <p:nvPr/>
        </p:nvSpPr>
        <p:spPr>
          <a:xfrm>
            <a:off x="600889" y="3903581"/>
            <a:ext cx="2403568" cy="94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28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28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143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813BB73-F2A9-4B99-8AF1-5EAA66551F9F}"/>
              </a:ext>
            </a:extLst>
          </p:cNvPr>
          <p:cNvSpPr/>
          <p:nvPr/>
        </p:nvSpPr>
        <p:spPr>
          <a:xfrm>
            <a:off x="2354740" y="2207485"/>
            <a:ext cx="1107996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200" b="1" dirty="0">
                <a:solidFill>
                  <a:srgbClr val="384D8F"/>
                </a:solidFill>
                <a:cs typeface="+mn-ea"/>
                <a:sym typeface="+mn-lt"/>
              </a:rPr>
              <a:t>目</a:t>
            </a:r>
            <a:endParaRPr lang="en-US" altLang="zh-CN" sz="7200" b="1" dirty="0">
              <a:solidFill>
                <a:srgbClr val="384D8F"/>
              </a:solidFill>
              <a:cs typeface="+mn-ea"/>
              <a:sym typeface="+mn-lt"/>
            </a:endParaRPr>
          </a:p>
          <a:p>
            <a:r>
              <a:rPr lang="zh-CN" altLang="en-US" sz="7200" b="1" dirty="0">
                <a:solidFill>
                  <a:srgbClr val="384D8F"/>
                </a:solidFill>
                <a:cs typeface="+mn-ea"/>
                <a:sym typeface="+mn-lt"/>
              </a:rPr>
              <a:t>录</a:t>
            </a:r>
            <a:endParaRPr lang="zh-CN" altLang="en-US" sz="7200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0611A79-0131-49D8-BFB9-0A1DDA41A8BA}"/>
              </a:ext>
            </a:extLst>
          </p:cNvPr>
          <p:cNvGrpSpPr/>
          <p:nvPr/>
        </p:nvGrpSpPr>
        <p:grpSpPr>
          <a:xfrm>
            <a:off x="4680876" y="1162125"/>
            <a:ext cx="6146800" cy="899886"/>
            <a:chOff x="4483100" y="1298423"/>
            <a:chExt cx="6146800" cy="899886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03CA9C39-1906-43D3-9C6A-A871E2410513}"/>
                </a:ext>
              </a:extLst>
            </p:cNvPr>
            <p:cNvGrpSpPr/>
            <p:nvPr/>
          </p:nvGrpSpPr>
          <p:grpSpPr>
            <a:xfrm>
              <a:off x="4483100" y="1298423"/>
              <a:ext cx="6146800" cy="899886"/>
              <a:chOff x="4483100" y="1298423"/>
              <a:chExt cx="6146800" cy="899886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A3510DA6-5D64-402E-8B92-7E3788232B44}"/>
                  </a:ext>
                </a:extLst>
              </p:cNvPr>
              <p:cNvSpPr/>
              <p:nvPr/>
            </p:nvSpPr>
            <p:spPr>
              <a:xfrm>
                <a:off x="4483100" y="1298423"/>
                <a:ext cx="6146800" cy="899886"/>
              </a:xfrm>
              <a:prstGeom prst="roundRect">
                <a:avLst/>
              </a:prstGeom>
              <a:solidFill>
                <a:schemeClr val="bg1">
                  <a:lumMod val="100000"/>
                </a:schemeClr>
              </a:solidFill>
              <a:ln>
                <a:noFill/>
              </a:ln>
              <a:effectLst>
                <a:outerShdw blurRad="254000" sx="103000" sy="103000" algn="ctr" rotWithShape="0">
                  <a:schemeClr val="accent5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745E4BDA-8C98-4CBE-ABD6-B03457295CCE}"/>
                  </a:ext>
                </a:extLst>
              </p:cNvPr>
              <p:cNvSpPr/>
              <p:nvPr/>
            </p:nvSpPr>
            <p:spPr>
              <a:xfrm>
                <a:off x="4758018" y="1684212"/>
                <a:ext cx="128308" cy="128308"/>
              </a:xfrm>
              <a:prstGeom prst="ellipse">
                <a:avLst/>
              </a:prstGeom>
              <a:solidFill>
                <a:srgbClr val="384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7C72BF1-F76C-4D7C-922C-1E948CF3D28F}"/>
                </a:ext>
              </a:extLst>
            </p:cNvPr>
            <p:cNvSpPr txBox="1"/>
            <p:nvPr/>
          </p:nvSpPr>
          <p:spPr>
            <a:xfrm>
              <a:off x="5161244" y="1563700"/>
              <a:ext cx="1336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汉仪雅酷黑 45W" panose="020B0404020202020204" pitchFamily="34" charset="-122"/>
                  <a:ea typeface="汉仪雅酷黑 45W" panose="020B0404020202020204" pitchFamily="34" charset="-122"/>
                </a:rPr>
                <a:t>PART-01</a:t>
              </a:r>
              <a:endParaRPr lang="zh-CN" altLang="en-US" b="1" dirty="0">
                <a:latin typeface="汉仪雅酷黑 45W" panose="020B0404020202020204" pitchFamily="34" charset="-122"/>
                <a:ea typeface="汉仪雅酷黑 45W" panose="020B0404020202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D2F619E-9390-4CAF-85A9-15F078001913}"/>
                </a:ext>
              </a:extLst>
            </p:cNvPr>
            <p:cNvSpPr txBox="1"/>
            <p:nvPr/>
          </p:nvSpPr>
          <p:spPr>
            <a:xfrm>
              <a:off x="6603014" y="1471367"/>
              <a:ext cx="28295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软件架构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A69F74E8-D489-4314-9CC9-CBDBC264D915}"/>
              </a:ext>
            </a:extLst>
          </p:cNvPr>
          <p:cNvGrpSpPr/>
          <p:nvPr/>
        </p:nvGrpSpPr>
        <p:grpSpPr>
          <a:xfrm>
            <a:off x="4680876" y="2405453"/>
            <a:ext cx="6146800" cy="899886"/>
            <a:chOff x="4483100" y="1298423"/>
            <a:chExt cx="6146800" cy="899886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97B98DA5-227B-4B99-91D6-ECABF27818AE}"/>
                </a:ext>
              </a:extLst>
            </p:cNvPr>
            <p:cNvGrpSpPr/>
            <p:nvPr/>
          </p:nvGrpSpPr>
          <p:grpSpPr>
            <a:xfrm>
              <a:off x="4483100" y="1298423"/>
              <a:ext cx="6146800" cy="899886"/>
              <a:chOff x="4483100" y="1298423"/>
              <a:chExt cx="6146800" cy="899886"/>
            </a:xfrm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C697B0A1-8ACE-46AC-896D-EC37AB4BB368}"/>
                  </a:ext>
                </a:extLst>
              </p:cNvPr>
              <p:cNvSpPr/>
              <p:nvPr/>
            </p:nvSpPr>
            <p:spPr>
              <a:xfrm>
                <a:off x="4483100" y="1298423"/>
                <a:ext cx="6146800" cy="899886"/>
              </a:xfrm>
              <a:prstGeom prst="roundRect">
                <a:avLst/>
              </a:prstGeom>
              <a:solidFill>
                <a:schemeClr val="bg1">
                  <a:lumMod val="100000"/>
                </a:schemeClr>
              </a:solidFill>
              <a:ln>
                <a:noFill/>
              </a:ln>
              <a:effectLst>
                <a:outerShdw blurRad="254000" sx="103000" sy="103000" algn="ctr" rotWithShape="0">
                  <a:schemeClr val="accent5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A11CB90C-35C4-40E1-981F-25717E3B4D41}"/>
                  </a:ext>
                </a:extLst>
              </p:cNvPr>
              <p:cNvSpPr/>
              <p:nvPr/>
            </p:nvSpPr>
            <p:spPr>
              <a:xfrm>
                <a:off x="4758018" y="1684212"/>
                <a:ext cx="128308" cy="128308"/>
              </a:xfrm>
              <a:prstGeom prst="ellipse">
                <a:avLst/>
              </a:prstGeom>
              <a:solidFill>
                <a:srgbClr val="384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FC6AB10-BFB4-4E6E-B4ED-B6E41C6E8EFA}"/>
                </a:ext>
              </a:extLst>
            </p:cNvPr>
            <p:cNvSpPr txBox="1"/>
            <p:nvPr/>
          </p:nvSpPr>
          <p:spPr>
            <a:xfrm>
              <a:off x="5161244" y="1563700"/>
              <a:ext cx="1336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汉仪雅酷黑 45W" panose="020B0404020202020204" pitchFamily="34" charset="-122"/>
                  <a:ea typeface="汉仪雅酷黑 45W" panose="020B0404020202020204" pitchFamily="34" charset="-122"/>
                </a:rPr>
                <a:t>PART-02</a:t>
              </a:r>
              <a:endParaRPr lang="zh-CN" altLang="en-US" b="1" dirty="0">
                <a:latin typeface="汉仪雅酷黑 45W" panose="020B0404020202020204" pitchFamily="34" charset="-122"/>
                <a:ea typeface="汉仪雅酷黑 45W" panose="020B0404020202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75E1CD3-2D44-4335-B776-EACE72831285}"/>
                </a:ext>
              </a:extLst>
            </p:cNvPr>
            <p:cNvSpPr txBox="1"/>
            <p:nvPr/>
          </p:nvSpPr>
          <p:spPr>
            <a:xfrm>
              <a:off x="6603014" y="1471367"/>
              <a:ext cx="28295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核心功能介绍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92CEF63-822F-474C-ACDC-20FD7CADC6C1}"/>
              </a:ext>
            </a:extLst>
          </p:cNvPr>
          <p:cNvGrpSpPr/>
          <p:nvPr/>
        </p:nvGrpSpPr>
        <p:grpSpPr>
          <a:xfrm>
            <a:off x="4680876" y="3648781"/>
            <a:ext cx="6146800" cy="899886"/>
            <a:chOff x="4483100" y="1298423"/>
            <a:chExt cx="6146800" cy="899886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B762E2F-CA56-4FBA-A657-BD2B2BBB82EA}"/>
                </a:ext>
              </a:extLst>
            </p:cNvPr>
            <p:cNvGrpSpPr/>
            <p:nvPr/>
          </p:nvGrpSpPr>
          <p:grpSpPr>
            <a:xfrm>
              <a:off x="4483100" y="1298423"/>
              <a:ext cx="6146800" cy="899886"/>
              <a:chOff x="4483100" y="1298423"/>
              <a:chExt cx="6146800" cy="899886"/>
            </a:xfrm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AD99B9B6-FDBA-4137-8EB0-B3691BCA22AA}"/>
                  </a:ext>
                </a:extLst>
              </p:cNvPr>
              <p:cNvSpPr/>
              <p:nvPr/>
            </p:nvSpPr>
            <p:spPr>
              <a:xfrm>
                <a:off x="4483100" y="1298423"/>
                <a:ext cx="6146800" cy="899886"/>
              </a:xfrm>
              <a:prstGeom prst="roundRect">
                <a:avLst/>
              </a:prstGeom>
              <a:solidFill>
                <a:schemeClr val="bg1">
                  <a:lumMod val="100000"/>
                </a:schemeClr>
              </a:solidFill>
              <a:ln>
                <a:noFill/>
              </a:ln>
              <a:effectLst>
                <a:outerShdw blurRad="254000" sx="103000" sy="103000" algn="ctr" rotWithShape="0">
                  <a:schemeClr val="accent5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B37AEFC-ECF9-4830-A8AA-929FB908B2FF}"/>
                  </a:ext>
                </a:extLst>
              </p:cNvPr>
              <p:cNvSpPr/>
              <p:nvPr/>
            </p:nvSpPr>
            <p:spPr>
              <a:xfrm>
                <a:off x="4758018" y="1684212"/>
                <a:ext cx="128308" cy="128308"/>
              </a:xfrm>
              <a:prstGeom prst="ellipse">
                <a:avLst/>
              </a:prstGeom>
              <a:solidFill>
                <a:srgbClr val="384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A71985F-0458-4B9A-A4F3-A5782FA6664C}"/>
                </a:ext>
              </a:extLst>
            </p:cNvPr>
            <p:cNvSpPr txBox="1"/>
            <p:nvPr/>
          </p:nvSpPr>
          <p:spPr>
            <a:xfrm>
              <a:off x="5161244" y="1563700"/>
              <a:ext cx="1336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汉仪雅酷黑 45W" panose="020B0404020202020204" pitchFamily="34" charset="-122"/>
                  <a:ea typeface="汉仪雅酷黑 45W" panose="020B0404020202020204" pitchFamily="34" charset="-122"/>
                </a:rPr>
                <a:t>PART-03</a:t>
              </a:r>
              <a:endParaRPr lang="zh-CN" altLang="en-US" b="1" dirty="0">
                <a:latin typeface="汉仪雅酷黑 45W" panose="020B0404020202020204" pitchFamily="34" charset="-122"/>
                <a:ea typeface="汉仪雅酷黑 45W" panose="020B0404020202020204" pitchFamily="34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B0DB51E-2569-4DDD-8B4E-63BE82CF9A11}"/>
                </a:ext>
              </a:extLst>
            </p:cNvPr>
            <p:cNvSpPr txBox="1"/>
            <p:nvPr/>
          </p:nvSpPr>
          <p:spPr>
            <a:xfrm>
              <a:off x="6603014" y="1471367"/>
              <a:ext cx="389209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构建和使用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68098AE2-19C5-4393-B6FF-0E1B41257168}"/>
              </a:ext>
            </a:extLst>
          </p:cNvPr>
          <p:cNvGrpSpPr/>
          <p:nvPr/>
        </p:nvGrpSpPr>
        <p:grpSpPr>
          <a:xfrm>
            <a:off x="4680876" y="4892108"/>
            <a:ext cx="6146800" cy="899886"/>
            <a:chOff x="4483100" y="1298423"/>
            <a:chExt cx="6146800" cy="899886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860B5FED-77FB-4C08-8483-DAFB45AEF36C}"/>
                </a:ext>
              </a:extLst>
            </p:cNvPr>
            <p:cNvGrpSpPr/>
            <p:nvPr/>
          </p:nvGrpSpPr>
          <p:grpSpPr>
            <a:xfrm>
              <a:off x="4483100" y="1298423"/>
              <a:ext cx="6146800" cy="899886"/>
              <a:chOff x="4483100" y="1298423"/>
              <a:chExt cx="6146800" cy="899886"/>
            </a:xfrm>
          </p:grpSpPr>
          <p:sp>
            <p:nvSpPr>
              <p:cNvPr id="64" name="矩形: 圆角 63">
                <a:extLst>
                  <a:ext uri="{FF2B5EF4-FFF2-40B4-BE49-F238E27FC236}">
                    <a16:creationId xmlns:a16="http://schemas.microsoft.com/office/drawing/2014/main" id="{CA44824B-7CFA-4B61-BB0B-026EFA74D626}"/>
                  </a:ext>
                </a:extLst>
              </p:cNvPr>
              <p:cNvSpPr/>
              <p:nvPr/>
            </p:nvSpPr>
            <p:spPr>
              <a:xfrm>
                <a:off x="4483100" y="1298423"/>
                <a:ext cx="6146800" cy="899886"/>
              </a:xfrm>
              <a:prstGeom prst="roundRect">
                <a:avLst/>
              </a:prstGeom>
              <a:solidFill>
                <a:schemeClr val="bg1">
                  <a:lumMod val="100000"/>
                </a:schemeClr>
              </a:solidFill>
              <a:ln>
                <a:noFill/>
              </a:ln>
              <a:effectLst>
                <a:outerShdw blurRad="254000" sx="103000" sy="103000" algn="ctr" rotWithShape="0">
                  <a:schemeClr val="accent5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>
                      <a:lumMod val="10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8A6451D4-4A10-4614-9BDF-042A1EE0FE2F}"/>
                  </a:ext>
                </a:extLst>
              </p:cNvPr>
              <p:cNvSpPr/>
              <p:nvPr/>
            </p:nvSpPr>
            <p:spPr>
              <a:xfrm>
                <a:off x="4758018" y="1684212"/>
                <a:ext cx="128308" cy="128308"/>
              </a:xfrm>
              <a:prstGeom prst="ellipse">
                <a:avLst/>
              </a:prstGeom>
              <a:solidFill>
                <a:srgbClr val="384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72C605E-8319-4B9A-A826-C037EA32FA43}"/>
                </a:ext>
              </a:extLst>
            </p:cNvPr>
            <p:cNvSpPr txBox="1"/>
            <p:nvPr/>
          </p:nvSpPr>
          <p:spPr>
            <a:xfrm>
              <a:off x="5161244" y="1563700"/>
              <a:ext cx="1336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汉仪雅酷黑 45W" panose="020B0404020202020204" pitchFamily="34" charset="-122"/>
                  <a:ea typeface="汉仪雅酷黑 45W" panose="020B0404020202020204" pitchFamily="34" charset="-122"/>
                </a:rPr>
                <a:t>PART-04</a:t>
              </a:r>
              <a:endParaRPr lang="zh-CN" altLang="en-US" b="1" dirty="0">
                <a:latin typeface="汉仪雅酷黑 45W" panose="020B0404020202020204" pitchFamily="34" charset="-122"/>
                <a:ea typeface="汉仪雅酷黑 45W" panose="020B0404020202020204" pitchFamily="34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07BBCAAB-F334-4836-8FD5-E35570EBDECC}"/>
                </a:ext>
              </a:extLst>
            </p:cNvPr>
            <p:cNvSpPr txBox="1"/>
            <p:nvPr/>
          </p:nvSpPr>
          <p:spPr>
            <a:xfrm>
              <a:off x="6603014" y="1471367"/>
              <a:ext cx="282957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开发计划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063CB15-A027-29EA-9A5D-755DD9794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/>
          <a:stretch/>
        </p:blipFill>
        <p:spPr>
          <a:xfrm>
            <a:off x="0" y="581188"/>
            <a:ext cx="2724150" cy="544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21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箭头: 上 56">
            <a:extLst>
              <a:ext uri="{FF2B5EF4-FFF2-40B4-BE49-F238E27FC236}">
                <a16:creationId xmlns:a16="http://schemas.microsoft.com/office/drawing/2014/main" id="{E4087CD3-20C4-8159-534D-7082D6F6FC75}"/>
              </a:ext>
            </a:extLst>
          </p:cNvPr>
          <p:cNvSpPr/>
          <p:nvPr/>
        </p:nvSpPr>
        <p:spPr>
          <a:xfrm>
            <a:off x="4361131" y="2140319"/>
            <a:ext cx="288061" cy="3510277"/>
          </a:xfrm>
          <a:prstGeom prst="upArrow">
            <a:avLst/>
          </a:prstGeom>
          <a:solidFill>
            <a:srgbClr val="7EA6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3508648" cy="463511"/>
            <a:chOff x="643226" y="411409"/>
            <a:chExt cx="3508648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2926289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软件架构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分层架构</a:t>
              </a: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A1375EA-50CE-7C22-A1AF-9A5A40CF0934}"/>
              </a:ext>
            </a:extLst>
          </p:cNvPr>
          <p:cNvSpPr/>
          <p:nvPr/>
        </p:nvSpPr>
        <p:spPr>
          <a:xfrm>
            <a:off x="290122" y="5679367"/>
            <a:ext cx="5199529" cy="1093694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D8B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0DD849D-8A06-3877-382C-9182A0C8D59A}"/>
              </a:ext>
            </a:extLst>
          </p:cNvPr>
          <p:cNvSpPr/>
          <p:nvPr/>
        </p:nvSpPr>
        <p:spPr>
          <a:xfrm>
            <a:off x="453411" y="4184594"/>
            <a:ext cx="3120360" cy="1100097"/>
          </a:xfrm>
          <a:prstGeom prst="roundRect">
            <a:avLst/>
          </a:prstGeom>
          <a:solidFill>
            <a:srgbClr val="DAE8FC"/>
          </a:solidFill>
          <a:ln w="19050">
            <a:solidFill>
              <a:srgbClr val="6C8E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0DB6E47-6A3C-5015-D618-C0EFF09CF10D}"/>
              </a:ext>
            </a:extLst>
          </p:cNvPr>
          <p:cNvSpPr/>
          <p:nvPr/>
        </p:nvSpPr>
        <p:spPr>
          <a:xfrm>
            <a:off x="428616" y="2580925"/>
            <a:ext cx="5061032" cy="1138466"/>
          </a:xfrm>
          <a:prstGeom prst="roundRect">
            <a:avLst/>
          </a:prstGeom>
          <a:solidFill>
            <a:srgbClr val="F8CECC"/>
          </a:solidFill>
          <a:ln w="19050">
            <a:solidFill>
              <a:srgbClr val="BE62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91E9AA6-79F5-04DB-21CB-3DAC7D988085}"/>
              </a:ext>
            </a:extLst>
          </p:cNvPr>
          <p:cNvSpPr/>
          <p:nvPr/>
        </p:nvSpPr>
        <p:spPr>
          <a:xfrm>
            <a:off x="428617" y="1164260"/>
            <a:ext cx="5061031" cy="947288"/>
          </a:xfrm>
          <a:prstGeom prst="roundRect">
            <a:avLst/>
          </a:prstGeom>
          <a:solidFill>
            <a:srgbClr val="D5E8D4"/>
          </a:solidFill>
          <a:ln>
            <a:solidFill>
              <a:srgbClr val="88B7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DD42B3-BFA1-A284-54A4-D407826BC728}"/>
              </a:ext>
            </a:extLst>
          </p:cNvPr>
          <p:cNvSpPr txBox="1"/>
          <p:nvPr/>
        </p:nvSpPr>
        <p:spPr>
          <a:xfrm>
            <a:off x="1947370" y="6417841"/>
            <a:ext cx="1511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抽象接口层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4A6AE5-DA91-04B0-CC96-8017C7EDA2E6}"/>
              </a:ext>
            </a:extLst>
          </p:cNvPr>
          <p:cNvSpPr txBox="1"/>
          <p:nvPr/>
        </p:nvSpPr>
        <p:spPr>
          <a:xfrm>
            <a:off x="1367305" y="4943211"/>
            <a:ext cx="1279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数据管理层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7CA033-B05B-E0AC-7C22-4B7896AE728A}"/>
              </a:ext>
            </a:extLst>
          </p:cNvPr>
          <p:cNvSpPr txBox="1"/>
          <p:nvPr/>
        </p:nvSpPr>
        <p:spPr>
          <a:xfrm>
            <a:off x="2241489" y="3380836"/>
            <a:ext cx="1154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核心功能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E154A5C-B296-487C-383D-70A9A5ABC063}"/>
              </a:ext>
            </a:extLst>
          </p:cNvPr>
          <p:cNvSpPr/>
          <p:nvPr/>
        </p:nvSpPr>
        <p:spPr>
          <a:xfrm>
            <a:off x="1637867" y="1413355"/>
            <a:ext cx="692940" cy="430695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A085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UI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AD39E98-29D7-6DD2-E2CA-15C2D9079D53}"/>
              </a:ext>
            </a:extLst>
          </p:cNvPr>
          <p:cNvSpPr/>
          <p:nvPr/>
        </p:nvSpPr>
        <p:spPr>
          <a:xfrm>
            <a:off x="3459127" y="1413355"/>
            <a:ext cx="902200" cy="434128"/>
          </a:xfrm>
          <a:prstGeom prst="roundRect">
            <a:avLst/>
          </a:prstGeom>
          <a:solidFill>
            <a:srgbClr val="E1D5E7"/>
          </a:solidFill>
          <a:ln w="19050">
            <a:solidFill>
              <a:srgbClr val="A085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用户交互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6B64BA1-EB89-96CB-9F81-91A444DB43BA}"/>
              </a:ext>
            </a:extLst>
          </p:cNvPr>
          <p:cNvSpPr/>
          <p:nvPr/>
        </p:nvSpPr>
        <p:spPr>
          <a:xfrm>
            <a:off x="589645" y="2884256"/>
            <a:ext cx="621495" cy="346585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几何模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型创建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7A8B7C2-8ADB-5A21-31C9-FE1E2895329A}"/>
              </a:ext>
            </a:extLst>
          </p:cNvPr>
          <p:cNvSpPr/>
          <p:nvPr/>
        </p:nvSpPr>
        <p:spPr>
          <a:xfrm>
            <a:off x="1653953" y="2884256"/>
            <a:ext cx="496644" cy="333364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网格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划分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4A2B88-CC0B-996D-51BE-B6F4366B3290}"/>
              </a:ext>
            </a:extLst>
          </p:cNvPr>
          <p:cNvSpPr/>
          <p:nvPr/>
        </p:nvSpPr>
        <p:spPr>
          <a:xfrm>
            <a:off x="2593410" y="2884256"/>
            <a:ext cx="590184" cy="346586"/>
          </a:xfrm>
          <a:prstGeom prst="rect">
            <a:avLst/>
          </a:prstGeom>
          <a:solidFill>
            <a:srgbClr val="FFFFFF"/>
          </a:solidFill>
          <a:ln w="158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参数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配置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24506C7-4C07-EE2C-B776-70828CD7FD44}"/>
              </a:ext>
            </a:extLst>
          </p:cNvPr>
          <p:cNvSpPr/>
          <p:nvPr/>
        </p:nvSpPr>
        <p:spPr>
          <a:xfrm>
            <a:off x="3626407" y="2884256"/>
            <a:ext cx="590185" cy="346585"/>
          </a:xfrm>
          <a:prstGeom prst="rect">
            <a:avLst/>
          </a:prstGeom>
          <a:solidFill>
            <a:srgbClr val="FFFFFF"/>
          </a:solidFill>
          <a:ln w="158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计算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5F452BE-F67E-7398-1A3E-6CEAE5884BBA}"/>
              </a:ext>
            </a:extLst>
          </p:cNvPr>
          <p:cNvSpPr/>
          <p:nvPr/>
        </p:nvSpPr>
        <p:spPr>
          <a:xfrm>
            <a:off x="4659406" y="2884256"/>
            <a:ext cx="667759" cy="340234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可视化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38FE937C-80A6-E200-5A49-4F3A0267C596}"/>
              </a:ext>
            </a:extLst>
          </p:cNvPr>
          <p:cNvSpPr/>
          <p:nvPr/>
        </p:nvSpPr>
        <p:spPr>
          <a:xfrm>
            <a:off x="1264939" y="2994401"/>
            <a:ext cx="339725" cy="114641"/>
          </a:xfrm>
          <a:prstGeom prst="rightArrow">
            <a:avLst/>
          </a:prstGeom>
          <a:solidFill>
            <a:srgbClr val="A20025"/>
          </a:solidFill>
          <a:ln>
            <a:solidFill>
              <a:srgbClr val="7300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7285DB18-0B85-FA15-2748-224B6D43520C}"/>
              </a:ext>
            </a:extLst>
          </p:cNvPr>
          <p:cNvSpPr/>
          <p:nvPr/>
        </p:nvSpPr>
        <p:spPr>
          <a:xfrm>
            <a:off x="2208533" y="2994401"/>
            <a:ext cx="339725" cy="114641"/>
          </a:xfrm>
          <a:prstGeom prst="rightArrow">
            <a:avLst/>
          </a:prstGeom>
          <a:solidFill>
            <a:srgbClr val="A20025"/>
          </a:solidFill>
          <a:ln>
            <a:solidFill>
              <a:srgbClr val="7300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A195CE24-AA63-C887-33ED-CFCC90B1CDD4}"/>
              </a:ext>
            </a:extLst>
          </p:cNvPr>
          <p:cNvSpPr/>
          <p:nvPr/>
        </p:nvSpPr>
        <p:spPr>
          <a:xfrm>
            <a:off x="3233505" y="2994401"/>
            <a:ext cx="339725" cy="114641"/>
          </a:xfrm>
          <a:prstGeom prst="rightArrow">
            <a:avLst/>
          </a:prstGeom>
          <a:solidFill>
            <a:srgbClr val="A20025"/>
          </a:solidFill>
          <a:ln>
            <a:solidFill>
              <a:srgbClr val="7300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7E62FF40-955D-7B53-53A7-DD085FC5E42B}"/>
              </a:ext>
            </a:extLst>
          </p:cNvPr>
          <p:cNvSpPr/>
          <p:nvPr/>
        </p:nvSpPr>
        <p:spPr>
          <a:xfrm>
            <a:off x="4268136" y="2994401"/>
            <a:ext cx="339725" cy="114641"/>
          </a:xfrm>
          <a:prstGeom prst="rightArrow">
            <a:avLst/>
          </a:prstGeom>
          <a:solidFill>
            <a:srgbClr val="A20025"/>
          </a:solidFill>
          <a:ln>
            <a:solidFill>
              <a:srgbClr val="7300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D37C8C2-6F57-A211-8F96-B9B3E051958E}"/>
              </a:ext>
            </a:extLst>
          </p:cNvPr>
          <p:cNvSpPr/>
          <p:nvPr/>
        </p:nvSpPr>
        <p:spPr>
          <a:xfrm>
            <a:off x="726121" y="4415390"/>
            <a:ext cx="50316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模型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1C50250-780A-E3CE-4DE7-05200C99E4ED}"/>
              </a:ext>
            </a:extLst>
          </p:cNvPr>
          <p:cNvSpPr/>
          <p:nvPr/>
        </p:nvSpPr>
        <p:spPr>
          <a:xfrm>
            <a:off x="1430209" y="4415390"/>
            <a:ext cx="50316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网格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DF75FA-B74F-7818-B5AA-74754948EB26}"/>
              </a:ext>
            </a:extLst>
          </p:cNvPr>
          <p:cNvSpPr/>
          <p:nvPr/>
        </p:nvSpPr>
        <p:spPr>
          <a:xfrm>
            <a:off x="2134297" y="4415390"/>
            <a:ext cx="503161" cy="410453"/>
          </a:xfrm>
          <a:prstGeom prst="rect">
            <a:avLst/>
          </a:prstGeom>
          <a:solidFill>
            <a:srgbClr val="FFFFFF"/>
          </a:solidFill>
          <a:ln w="158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求解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3C22591-2A5A-AE1F-4A34-4D602BF82CF9}"/>
              </a:ext>
            </a:extLst>
          </p:cNvPr>
          <p:cNvSpPr/>
          <p:nvPr/>
        </p:nvSpPr>
        <p:spPr>
          <a:xfrm>
            <a:off x="2838386" y="4415390"/>
            <a:ext cx="50316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渲染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3BBB3FF-95D6-6A0C-9B60-A1126395FBBB}"/>
              </a:ext>
            </a:extLst>
          </p:cNvPr>
          <p:cNvSpPr/>
          <p:nvPr/>
        </p:nvSpPr>
        <p:spPr>
          <a:xfrm>
            <a:off x="889145" y="5897405"/>
            <a:ext cx="50316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工程接口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E841D7F-3F55-7936-40F9-75F03EE16E35}"/>
              </a:ext>
            </a:extLst>
          </p:cNvPr>
          <p:cNvSpPr/>
          <p:nvPr/>
        </p:nvSpPr>
        <p:spPr>
          <a:xfrm>
            <a:off x="1695790" y="5897405"/>
            <a:ext cx="50316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数据接口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A3F9ACA-01A4-C872-E491-BFFAC8186A06}"/>
              </a:ext>
            </a:extLst>
          </p:cNvPr>
          <p:cNvSpPr/>
          <p:nvPr/>
        </p:nvSpPr>
        <p:spPr>
          <a:xfrm>
            <a:off x="2502435" y="5897405"/>
            <a:ext cx="50316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UI</a:t>
            </a: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接口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9FCD6EC-D2B3-AB65-6665-B3D52D291A8F}"/>
              </a:ext>
            </a:extLst>
          </p:cNvPr>
          <p:cNvSpPr/>
          <p:nvPr/>
        </p:nvSpPr>
        <p:spPr>
          <a:xfrm>
            <a:off x="3309080" y="5897405"/>
            <a:ext cx="696203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Docking</a:t>
            </a: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接口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0B1ECD5-015A-3D61-2FF4-C4D7884BBD29}"/>
              </a:ext>
            </a:extLst>
          </p:cNvPr>
          <p:cNvSpPr/>
          <p:nvPr/>
        </p:nvSpPr>
        <p:spPr>
          <a:xfrm>
            <a:off x="4308768" y="5897405"/>
            <a:ext cx="701281" cy="410453"/>
          </a:xfrm>
          <a:prstGeom prst="rect">
            <a:avLst/>
          </a:prstGeom>
          <a:solidFill>
            <a:srgbClr val="FFFFFF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接口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58" name="箭头: 上 57">
            <a:extLst>
              <a:ext uri="{FF2B5EF4-FFF2-40B4-BE49-F238E27FC236}">
                <a16:creationId xmlns:a16="http://schemas.microsoft.com/office/drawing/2014/main" id="{B498A7C1-0453-ECB4-CC40-C5D54BA285ED}"/>
              </a:ext>
            </a:extLst>
          </p:cNvPr>
          <p:cNvSpPr/>
          <p:nvPr/>
        </p:nvSpPr>
        <p:spPr>
          <a:xfrm>
            <a:off x="1902275" y="5311455"/>
            <a:ext cx="251580" cy="351246"/>
          </a:xfrm>
          <a:prstGeom prst="upArrow">
            <a:avLst/>
          </a:prstGeom>
          <a:solidFill>
            <a:srgbClr val="7EA6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上 58">
            <a:extLst>
              <a:ext uri="{FF2B5EF4-FFF2-40B4-BE49-F238E27FC236}">
                <a16:creationId xmlns:a16="http://schemas.microsoft.com/office/drawing/2014/main" id="{4209C764-ADD3-BBE0-6ACD-8869ABD58C5F}"/>
              </a:ext>
            </a:extLst>
          </p:cNvPr>
          <p:cNvSpPr/>
          <p:nvPr/>
        </p:nvSpPr>
        <p:spPr>
          <a:xfrm>
            <a:off x="1902275" y="3736057"/>
            <a:ext cx="251580" cy="402789"/>
          </a:xfrm>
          <a:prstGeom prst="upArrow">
            <a:avLst/>
          </a:prstGeom>
          <a:solidFill>
            <a:srgbClr val="7EA6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箭头: 上 59">
            <a:extLst>
              <a:ext uri="{FF2B5EF4-FFF2-40B4-BE49-F238E27FC236}">
                <a16:creationId xmlns:a16="http://schemas.microsoft.com/office/drawing/2014/main" id="{D110A041-14BB-4400-308A-5636275FE6AD}"/>
              </a:ext>
            </a:extLst>
          </p:cNvPr>
          <p:cNvSpPr/>
          <p:nvPr/>
        </p:nvSpPr>
        <p:spPr>
          <a:xfrm>
            <a:off x="1881268" y="2128214"/>
            <a:ext cx="251580" cy="418607"/>
          </a:xfrm>
          <a:prstGeom prst="upArrow">
            <a:avLst/>
          </a:prstGeom>
          <a:solidFill>
            <a:srgbClr val="7EA6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61CD275-D19D-8852-03A3-04B3C1A6BDB7}"/>
              </a:ext>
            </a:extLst>
          </p:cNvPr>
          <p:cNvSpPr txBox="1"/>
          <p:nvPr/>
        </p:nvSpPr>
        <p:spPr>
          <a:xfrm>
            <a:off x="2261211" y="1804651"/>
            <a:ext cx="1154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APP</a:t>
            </a:r>
            <a:endParaRPr lang="zh-CN" altLang="en-US" sz="1600" b="1" dirty="0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04B9F5B5-D1A2-0086-2D86-5DF44F68B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729" y="2771877"/>
            <a:ext cx="6195322" cy="35102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56C2BE1-BAEF-77C4-466E-467CA2D5A0AE}"/>
              </a:ext>
            </a:extLst>
          </p:cNvPr>
          <p:cNvSpPr txBox="1"/>
          <p:nvPr/>
        </p:nvSpPr>
        <p:spPr>
          <a:xfrm>
            <a:off x="7515564" y="6386482"/>
            <a:ext cx="356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FreeCAE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Workbench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主页面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9BA62-4B30-2827-DA62-2EB6A2A16E8B}"/>
              </a:ext>
            </a:extLst>
          </p:cNvPr>
          <p:cNvSpPr txBox="1"/>
          <p:nvPr/>
        </p:nvSpPr>
        <p:spPr>
          <a:xfrm>
            <a:off x="1933370" y="736244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软件的架构图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5639F3C-FC23-B17E-E4CB-F8A7F11AB4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11" y="719090"/>
            <a:ext cx="3991711" cy="182288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4E707A1-C596-5E4E-264E-7AE5D18A9FD0}"/>
              </a:ext>
            </a:extLst>
          </p:cNvPr>
          <p:cNvSpPr txBox="1"/>
          <p:nvPr/>
        </p:nvSpPr>
        <p:spPr>
          <a:xfrm>
            <a:off x="9972348" y="1266987"/>
            <a:ext cx="1825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设计模式</a:t>
            </a:r>
          </a:p>
        </p:txBody>
      </p:sp>
    </p:spTree>
    <p:extLst>
      <p:ext uri="{BB962C8B-B14F-4D97-AF65-F5344CB8AC3E}">
        <p14:creationId xmlns:p14="http://schemas.microsoft.com/office/powerpoint/2010/main" val="3122484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4199542" cy="463511"/>
            <a:chOff x="643226" y="411409"/>
            <a:chExt cx="4199542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3617183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软件架构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第三方组件库</a:t>
              </a: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D2A887-283A-A96A-9B52-7FE23503B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60" y="977770"/>
            <a:ext cx="1449648" cy="77440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7778EA9-222F-BDD9-307B-F41C23BE0BDB}"/>
              </a:ext>
            </a:extLst>
          </p:cNvPr>
          <p:cNvSpPr txBox="1"/>
          <p:nvPr/>
        </p:nvSpPr>
        <p:spPr>
          <a:xfrm>
            <a:off x="2313083" y="911461"/>
            <a:ext cx="8653331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VTK(Visualization Toolkit)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协议开源的免费软件系统，主要用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于三维计算机图形学、图像处理和可视化。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74C9D8-EF8D-3D02-F854-C1106431ED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38" y="2157545"/>
            <a:ext cx="1476445" cy="14764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D367383-E800-73A2-0BFF-63907CFA6F04}"/>
              </a:ext>
            </a:extLst>
          </p:cNvPr>
          <p:cNvSpPr txBox="1"/>
          <p:nvPr/>
        </p:nvSpPr>
        <p:spPr>
          <a:xfrm>
            <a:off x="2080726" y="2076011"/>
            <a:ext cx="9582539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是一个开源的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有限元网格生成器，内置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引擎和后处理器。一款快速、轻量且用户友好的网格生成工具，支持参数化输入和灵活的可视化功能。可以通过图形用户界面、命令行、使用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自有的脚本语言编写的文本文件（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.geo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文件）或通过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Julia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Fortran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进行控制。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46102F4-D8E2-A0BB-3585-1AF304F80C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489" y="3912093"/>
            <a:ext cx="2394378" cy="7744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F726389-D2EA-5164-D596-2F5835F84D64}"/>
              </a:ext>
            </a:extLst>
          </p:cNvPr>
          <p:cNvSpPr txBox="1"/>
          <p:nvPr/>
        </p:nvSpPr>
        <p:spPr>
          <a:xfrm>
            <a:off x="652736" y="4228663"/>
            <a:ext cx="7111159" cy="212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OCC(Open CASCADE)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基于LGPL协议开源的C++类库，用于快速生成复杂的特定领域CAD/CAM/CAE应用程序，使用OCCT开发的典型应用程序处理通用或专业计算机辅助设计(CAD)系统、制造或分析应用程序、模拟应用程序甚至插图工具中的二维或三维(2D或3D)几何建模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FD0F2D-7315-DBFE-995B-D2B9704774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737" y="4686498"/>
            <a:ext cx="4263263" cy="204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5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4098553" cy="463511"/>
            <a:chOff x="643226" y="411409"/>
            <a:chExt cx="4098553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3516194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软件架构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模块依赖关系</a:t>
              </a: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9D9774-1284-0F48-4142-363F5DCFF0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" y="987336"/>
            <a:ext cx="7817432" cy="553309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612311A-22F2-BEB8-70EA-72878E2E8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976354"/>
              </p:ext>
            </p:extLst>
          </p:nvPr>
        </p:nvGraphicFramePr>
        <p:xfrm>
          <a:off x="8077201" y="1234706"/>
          <a:ext cx="3980328" cy="527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742">
                  <a:extLst>
                    <a:ext uri="{9D8B030D-6E8A-4147-A177-3AD203B41FA5}">
                      <a16:colId xmlns:a16="http://schemas.microsoft.com/office/drawing/2014/main" val="1471611223"/>
                    </a:ext>
                  </a:extLst>
                </a:gridCol>
                <a:gridCol w="1955586">
                  <a:extLst>
                    <a:ext uri="{9D8B030D-6E8A-4147-A177-3AD203B41FA5}">
                      <a16:colId xmlns:a16="http://schemas.microsoft.com/office/drawing/2014/main" val="1184815711"/>
                    </a:ext>
                  </a:extLst>
                </a:gridCol>
              </a:tblGrid>
              <a:tr h="356999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93449028"/>
                  </a:ext>
                </a:extLst>
              </a:tr>
              <a:tr h="403765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主程序入口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090336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FCInterface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抽象接口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362236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FCGeometryModelCreator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几何模型创建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815462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FCMeshModule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网格划分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116286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FCPostProcessing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后处理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结果渲染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510159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FCProjecTree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工程树管理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513866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FCGui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UI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24983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FCMessangeHandler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日志处理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192780"/>
                  </a:ext>
                </a:extLst>
              </a:tr>
              <a:tr h="564525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FCUtils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工具类模块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838730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0053AE7-78F7-1F60-8B53-6103B8A4391A}"/>
              </a:ext>
            </a:extLst>
          </p:cNvPr>
          <p:cNvSpPr txBox="1"/>
          <p:nvPr/>
        </p:nvSpPr>
        <p:spPr>
          <a:xfrm>
            <a:off x="9020443" y="708665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主要模块功能说明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D52975-B35B-2CD4-41A2-65A20696CA6F}"/>
              </a:ext>
            </a:extLst>
          </p:cNvPr>
          <p:cNvSpPr txBox="1"/>
          <p:nvPr/>
        </p:nvSpPr>
        <p:spPr>
          <a:xfrm>
            <a:off x="3172119" y="7106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模块依赖关系</a:t>
            </a:r>
          </a:p>
        </p:txBody>
      </p:sp>
    </p:spTree>
    <p:extLst>
      <p:ext uri="{BB962C8B-B14F-4D97-AF65-F5344CB8AC3E}">
        <p14:creationId xmlns:p14="http://schemas.microsoft.com/office/powerpoint/2010/main" val="154366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5361719" cy="463511"/>
            <a:chOff x="643226" y="411409"/>
            <a:chExt cx="5361719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4779360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核心功能介绍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前处理</a:t>
              </a:r>
              <a:r>
                <a:rPr lang="en-US" altLang="zh-CN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(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模型创建</a:t>
              </a:r>
              <a:r>
                <a:rPr lang="en-US" altLang="zh-CN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)</a:t>
              </a:r>
              <a:endParaRPr lang="zh-CN" altLang="en-US" sz="2000" b="1" kern="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Light" panose="020B0300000000000000" pitchFamily="34" charset="-122"/>
                <a:sym typeface="汉仪雅酷黑 75W" panose="020B0804020202020204" pitchFamily="34" charset="-122"/>
              </a:endParaRP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E6F441-0B0F-F0FC-B400-5BD6BC7C3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72" y="1065540"/>
            <a:ext cx="2317027" cy="111419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A7E9BE9-2EEA-E7D6-C6EF-762187C9E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7319" y="1283187"/>
            <a:ext cx="2480801" cy="2062625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F83784-EB44-F7A8-936F-162811EC5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547" y="2179739"/>
            <a:ext cx="4999395" cy="26883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42B0A8-9363-8F11-15F5-6FD541EF67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6896" y="2223410"/>
            <a:ext cx="2472112" cy="1999774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82F5CA0-CB83-6D9C-53F8-1839F9E29F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392" y="2556147"/>
            <a:ext cx="2451193" cy="224741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1E41BA3-3A5E-915E-1F38-9CD4288E6C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7511" y="2960794"/>
            <a:ext cx="2370032" cy="155257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32D154-3657-E123-35A4-09C64A378D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7163" y="3324835"/>
            <a:ext cx="2366238" cy="1796697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53014DD-8162-14A2-8B8D-E0A5764C75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255" y="2314500"/>
            <a:ext cx="2285546" cy="348387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A41020A-34BD-7CF8-1241-953047606498}"/>
              </a:ext>
            </a:extLst>
          </p:cNvPr>
          <p:cNvSpPr txBox="1"/>
          <p:nvPr/>
        </p:nvSpPr>
        <p:spPr>
          <a:xfrm>
            <a:off x="1039226" y="622995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0C5D12-8B04-E5E7-186E-F663CBE71146}"/>
              </a:ext>
            </a:extLst>
          </p:cNvPr>
          <p:cNvSpPr txBox="1"/>
          <p:nvPr/>
        </p:nvSpPr>
        <p:spPr>
          <a:xfrm>
            <a:off x="4472327" y="6200022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设置模型参数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98DCED-C431-9CEF-BE58-B49B44079F44}"/>
              </a:ext>
            </a:extLst>
          </p:cNvPr>
          <p:cNvSpPr txBox="1"/>
          <p:nvPr/>
        </p:nvSpPr>
        <p:spPr>
          <a:xfrm>
            <a:off x="8675871" y="6200022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构建模型并显示</a:t>
            </a:r>
          </a:p>
        </p:txBody>
      </p:sp>
    </p:spTree>
    <p:extLst>
      <p:ext uri="{BB962C8B-B14F-4D97-AF65-F5344CB8AC3E}">
        <p14:creationId xmlns:p14="http://schemas.microsoft.com/office/powerpoint/2010/main" val="418534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5416221" cy="463511"/>
            <a:chOff x="643226" y="411409"/>
            <a:chExt cx="5416221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4833862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核心功能介绍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前处理</a:t>
              </a:r>
              <a:r>
                <a:rPr lang="en-US" altLang="zh-CN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(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网格生成</a:t>
              </a:r>
              <a:r>
                <a:rPr lang="en-US" altLang="zh-CN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)</a:t>
              </a:r>
              <a:endParaRPr lang="zh-CN" altLang="en-US" sz="2000" b="1" kern="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Light" panose="020B0300000000000000" pitchFamily="34" charset="-122"/>
                <a:sym typeface="汉仪雅酷黑 75W" panose="020B0804020202020204" pitchFamily="34" charset="-122"/>
              </a:endParaRP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BA6CC0-1DDB-0036-7D83-EF693FB93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63" y="1461854"/>
            <a:ext cx="3365653" cy="40284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6DA26E-1DDB-E12A-9C0F-02FDC5BF6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907" y="793211"/>
            <a:ext cx="4365510" cy="280134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EE22B9-0B57-8D1E-7152-1658492BB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2907" y="3906927"/>
            <a:ext cx="4365510" cy="283289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A63B6C-3FA2-611E-04F9-F9CC283504D1}"/>
              </a:ext>
            </a:extLst>
          </p:cNvPr>
          <p:cNvCxnSpPr>
            <a:cxnSpLocks/>
          </p:cNvCxnSpPr>
          <p:nvPr/>
        </p:nvCxnSpPr>
        <p:spPr>
          <a:xfrm flipV="1">
            <a:off x="3850969" y="2193885"/>
            <a:ext cx="2453484" cy="880697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D3080AE-0B29-6C58-135D-4837D9B4C446}"/>
              </a:ext>
            </a:extLst>
          </p:cNvPr>
          <p:cNvCxnSpPr/>
          <p:nvPr/>
        </p:nvCxnSpPr>
        <p:spPr>
          <a:xfrm>
            <a:off x="3850969" y="4027714"/>
            <a:ext cx="2453484" cy="1295658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15530-9E7A-7E09-C127-5BBCD7454EAD}"/>
              </a:ext>
            </a:extLst>
          </p:cNvPr>
          <p:cNvSpPr txBox="1"/>
          <p:nvPr/>
        </p:nvSpPr>
        <p:spPr>
          <a:xfrm>
            <a:off x="1132114" y="616131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支持参数化生成网格</a:t>
            </a:r>
          </a:p>
        </p:txBody>
      </p:sp>
    </p:spTree>
    <p:extLst>
      <p:ext uri="{BB962C8B-B14F-4D97-AF65-F5344CB8AC3E}">
        <p14:creationId xmlns:p14="http://schemas.microsoft.com/office/powerpoint/2010/main" val="1523386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5656672" cy="463511"/>
            <a:chOff x="643226" y="411409"/>
            <a:chExt cx="5656672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5074313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核心功能介绍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后处理</a:t>
              </a:r>
              <a:r>
                <a:rPr lang="en-US" altLang="zh-CN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(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结果可视化</a:t>
              </a:r>
              <a:r>
                <a:rPr lang="en-US" altLang="zh-CN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)</a:t>
              </a:r>
              <a:endParaRPr lang="zh-CN" altLang="en-US" sz="2000" b="1" kern="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Light" panose="020B0300000000000000" pitchFamily="34" charset="-122"/>
                <a:sym typeface="汉仪雅酷黑 75W" panose="020B0804020202020204" pitchFamily="34" charset="-122"/>
              </a:endParaRP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0C3BA1-DAAD-54C0-A8CC-1C8F6289F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72" y="738116"/>
            <a:ext cx="2936907" cy="53817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2983B6-B432-9743-A3E2-EA4379E5B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941" y="1057837"/>
            <a:ext cx="7439848" cy="419164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5B4A141-466A-E3AA-40EB-6BA9252E3652}"/>
              </a:ext>
            </a:extLst>
          </p:cNvPr>
          <p:cNvSpPr txBox="1"/>
          <p:nvPr/>
        </p:nvSpPr>
        <p:spPr>
          <a:xfrm>
            <a:off x="829585" y="6362199"/>
            <a:ext cx="3013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后处理可视化显示参数设置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5F8DF8-2BD2-0AF6-D343-0CF9B770E710}"/>
              </a:ext>
            </a:extLst>
          </p:cNvPr>
          <p:cNvSpPr txBox="1"/>
          <p:nvPr/>
        </p:nvSpPr>
        <p:spPr>
          <a:xfrm>
            <a:off x="6772370" y="567890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后处理可视化渲染图形</a:t>
            </a:r>
          </a:p>
        </p:txBody>
      </p:sp>
    </p:spTree>
    <p:extLst>
      <p:ext uri="{BB962C8B-B14F-4D97-AF65-F5344CB8AC3E}">
        <p14:creationId xmlns:p14="http://schemas.microsoft.com/office/powerpoint/2010/main" val="299919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4252441" cy="463511"/>
            <a:chOff x="643226" y="411409"/>
            <a:chExt cx="4252441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3670082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构建和使用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第三方库构建</a:t>
              </a: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F7153A-B1FD-7BC5-EBBC-8616557CAF3E}"/>
              </a:ext>
            </a:extLst>
          </p:cNvPr>
          <p:cNvSpPr txBox="1"/>
          <p:nvPr/>
        </p:nvSpPr>
        <p:spPr>
          <a:xfrm>
            <a:off x="671587" y="1084729"/>
            <a:ext cx="4820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构建环境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CMake 3.28, Qt 6.5.3, VS2019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187B249-7001-4856-2D92-5890CDA4A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733358"/>
              </p:ext>
            </p:extLst>
          </p:nvPr>
        </p:nvGraphicFramePr>
        <p:xfrm>
          <a:off x="806272" y="2503642"/>
          <a:ext cx="3936058" cy="337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869">
                  <a:extLst>
                    <a:ext uri="{9D8B030D-6E8A-4147-A177-3AD203B41FA5}">
                      <a16:colId xmlns:a16="http://schemas.microsoft.com/office/drawing/2014/main" val="906932594"/>
                    </a:ext>
                  </a:extLst>
                </a:gridCol>
                <a:gridCol w="1730189">
                  <a:extLst>
                    <a:ext uri="{9D8B030D-6E8A-4147-A177-3AD203B41FA5}">
                      <a16:colId xmlns:a16="http://schemas.microsoft.com/office/drawing/2014/main" val="3992269221"/>
                    </a:ext>
                  </a:extLst>
                </a:gridCol>
              </a:tblGrid>
              <a:tr h="387027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版本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674972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r>
                        <a:rPr lang="en-US" altLang="zh-CN" dirty="0"/>
                        <a:t>OpenCASCADE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7.9.2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713114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r>
                        <a:rPr lang="en-US" altLang="zh-CN" dirty="0"/>
                        <a:t>VTK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9.4.1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090154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r>
                        <a:rPr lang="en-US" altLang="zh-CN" dirty="0"/>
                        <a:t>Gmsh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4.15.0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019340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r>
                        <a:rPr lang="en-US" altLang="zh-CN" dirty="0"/>
                        <a:t>SARibbon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2.5.4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485799"/>
                  </a:ext>
                </a:extLst>
              </a:tr>
              <a:tr h="668019">
                <a:tc>
                  <a:txBody>
                    <a:bodyPr/>
                    <a:lstStyle/>
                    <a:p>
                      <a:r>
                        <a:rPr lang="en-US" altLang="zh-CN" dirty="0"/>
                        <a:t>Qt-Advanced-Docking-System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4.4.1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03956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r>
                        <a:rPr lang="en-US" altLang="zh-CN" dirty="0"/>
                        <a:t>spdlog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1.16.0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043401"/>
                  </a:ext>
                </a:extLst>
              </a:tr>
              <a:tr h="387027">
                <a:tc>
                  <a:txBody>
                    <a:bodyPr/>
                    <a:lstStyle/>
                    <a:p>
                      <a:r>
                        <a:rPr lang="en-US" altLang="zh-CN" dirty="0"/>
                        <a:t>quazip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15713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0DAD5C7-F4EE-EEA4-A53A-10A38D223F74}"/>
              </a:ext>
            </a:extLst>
          </p:cNvPr>
          <p:cNvSpPr txBox="1"/>
          <p:nvPr/>
        </p:nvSpPr>
        <p:spPr>
          <a:xfrm>
            <a:off x="671587" y="1894041"/>
            <a:ext cx="1829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第三方库列表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35B9AE-B842-DAE8-EA6D-C7F4E7355EA7}"/>
              </a:ext>
            </a:extLst>
          </p:cNvPr>
          <p:cNvSpPr txBox="1"/>
          <p:nvPr/>
        </p:nvSpPr>
        <p:spPr>
          <a:xfrm>
            <a:off x="6700056" y="1050791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构建步骤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8C6957-0131-00F3-4CC5-F98EF30117CC}"/>
              </a:ext>
            </a:extLst>
          </p:cNvPr>
          <p:cNvSpPr txBox="1"/>
          <p:nvPr/>
        </p:nvSpPr>
        <p:spPr>
          <a:xfrm>
            <a:off x="6944188" y="1894041"/>
            <a:ext cx="3461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仓库代码，同步第三方库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B577FAD-7298-B32D-348C-D38C228CC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4188" y="2363408"/>
            <a:ext cx="4976635" cy="8861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C7B7ED5-C33A-138D-F310-F2EA4DDC3E2D}"/>
              </a:ext>
            </a:extLst>
          </p:cNvPr>
          <p:cNvSpPr txBox="1"/>
          <p:nvPr/>
        </p:nvSpPr>
        <p:spPr>
          <a:xfrm>
            <a:off x="6872436" y="3406282"/>
            <a:ext cx="5009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Qt Creator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./3rdpart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Cmake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110C2CD-C27C-D037-4377-041A2691B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0028" y="3859683"/>
            <a:ext cx="2809524" cy="154285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850DC96-3279-3761-CD96-F2B20DEAA9E0}"/>
              </a:ext>
            </a:extLst>
          </p:cNvPr>
          <p:cNvSpPr txBox="1"/>
          <p:nvPr/>
        </p:nvSpPr>
        <p:spPr>
          <a:xfrm>
            <a:off x="6872436" y="5698315"/>
            <a:ext cx="5319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单独编译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VTK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OCCT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，编译之后手动拷贝到安装目录中</a:t>
            </a:r>
          </a:p>
        </p:txBody>
      </p:sp>
    </p:spTree>
    <p:extLst>
      <p:ext uri="{BB962C8B-B14F-4D97-AF65-F5344CB8AC3E}">
        <p14:creationId xmlns:p14="http://schemas.microsoft.com/office/powerpoint/2010/main" val="2360856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3957488" cy="463511"/>
            <a:chOff x="643226" y="411409"/>
            <a:chExt cx="3957488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3375129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构建和使用</a:t>
              </a:r>
              <a:r>
                <a:rPr lang="en-US" altLang="zh-CN" sz="24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-</a:t>
              </a:r>
              <a:r>
                <a:rPr lang="zh-CN" altLang="en-US" sz="2000" b="1" kern="0" spc="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Light" panose="020B0300000000000000" pitchFamily="34" charset="-122"/>
                  <a:sym typeface="汉仪雅酷黑 75W" panose="020B0804020202020204" pitchFamily="34" charset="-122"/>
                </a:rPr>
                <a:t>主程序构建</a:t>
              </a: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7E51B7-29E2-9E6F-AB26-F4C8A6AB4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114" y="1385094"/>
            <a:ext cx="7255323" cy="33942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DE241C1-05F2-6257-3D7D-4B2C9F713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251" y="1240404"/>
            <a:ext cx="2657143" cy="388571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4181098-B777-1B44-96D5-C995403E25B1}"/>
              </a:ext>
            </a:extLst>
          </p:cNvPr>
          <p:cNvSpPr txBox="1"/>
          <p:nvPr/>
        </p:nvSpPr>
        <p:spPr>
          <a:xfrm>
            <a:off x="781988" y="5452835"/>
            <a:ext cx="21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FreeCAE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84C42D-78AD-9885-CF45-9950EEFDC295}"/>
              </a:ext>
            </a:extLst>
          </p:cNvPr>
          <p:cNvSpPr txBox="1"/>
          <p:nvPr/>
        </p:nvSpPr>
        <p:spPr>
          <a:xfrm>
            <a:off x="7114945" y="535170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编译选项配置</a:t>
            </a:r>
          </a:p>
        </p:txBody>
      </p:sp>
    </p:spTree>
    <p:extLst>
      <p:ext uri="{BB962C8B-B14F-4D97-AF65-F5344CB8AC3E}">
        <p14:creationId xmlns:p14="http://schemas.microsoft.com/office/powerpoint/2010/main" val="267735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43226" y="118183"/>
            <a:ext cx="2001825" cy="463511"/>
            <a:chOff x="643226" y="411409"/>
            <a:chExt cx="2001825" cy="463511"/>
          </a:xfrm>
        </p:grpSpPr>
        <p:grpSp>
          <p:nvGrpSpPr>
            <p:cNvPr id="18" name="组合 17"/>
            <p:cNvGrpSpPr/>
            <p:nvPr/>
          </p:nvGrpSpPr>
          <p:grpSpPr>
            <a:xfrm>
              <a:off x="643226" y="419695"/>
              <a:ext cx="396000" cy="396000"/>
              <a:chOff x="395576" y="248444"/>
              <a:chExt cx="396000" cy="396000"/>
            </a:xfrm>
            <a:noFill/>
          </p:grpSpPr>
          <p:sp>
            <p:nvSpPr>
              <p:cNvPr id="20" name="矩形 19"/>
              <p:cNvSpPr/>
              <p:nvPr userDrawn="1"/>
            </p:nvSpPr>
            <p:spPr>
              <a:xfrm>
                <a:off x="395576" y="248444"/>
                <a:ext cx="326092" cy="336419"/>
              </a:xfrm>
              <a:prstGeom prst="rect">
                <a:avLst/>
              </a:prstGeom>
              <a:grpFill/>
              <a:ln w="19050" cap="flat" cmpd="sng" algn="ctr">
                <a:solidFill>
                  <a:srgbClr val="368CCB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581935" y="432344"/>
                <a:ext cx="209641" cy="212100"/>
              </a:xfrm>
              <a:prstGeom prst="rect">
                <a:avLst/>
              </a:prstGeom>
              <a:solidFill>
                <a:srgbClr val="368CCB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Light" panose="020B0300000000000000" pitchFamily="34" charset="-122"/>
                  <a:ea typeface="思源黑体 CN Light" panose="020B0300000000000000" pitchFamily="34" charset="-122"/>
                  <a:cs typeface="思源黑体 CN Light" panose="020B0300000000000000" pitchFamily="34" charset="-122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225585" y="411409"/>
              <a:ext cx="1419466" cy="463511"/>
            </a:xfrm>
            <a:prstGeom prst="rect">
              <a:avLst/>
            </a:prstGeom>
            <a:effectLst/>
          </p:spPr>
          <p:txBody>
            <a:bodyPr wrap="none" lIns="93269" tIns="46634" rIns="93269" bIns="46634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开发计划</a:t>
              </a:r>
              <a:endParaRPr lang="zh-CN" altLang="en-US" sz="2000" b="1" kern="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Light" panose="020B0300000000000000" pitchFamily="34" charset="-122"/>
                <a:sym typeface="汉仪雅酷黑 75W" panose="020B0804020202020204" pitchFamily="34" charset="-122"/>
              </a:endParaRPr>
            </a:p>
          </p:txBody>
        </p:sp>
      </p:grpSp>
      <p:cxnSp>
        <p:nvCxnSpPr>
          <p:cNvPr id="22" name="直接连接符 21"/>
          <p:cNvCxnSpPr>
            <a:cxnSpLocks/>
          </p:cNvCxnSpPr>
          <p:nvPr/>
        </p:nvCxnSpPr>
        <p:spPr>
          <a:xfrm>
            <a:off x="399738" y="628049"/>
            <a:ext cx="11512862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07DABC-383C-F5D7-85D1-911AC4E14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5" y="138435"/>
            <a:ext cx="382690" cy="4070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B61DF18-F15A-FB62-B233-3B2DDF774E26}"/>
              </a:ext>
            </a:extLst>
          </p:cNvPr>
          <p:cNvSpPr txBox="1"/>
          <p:nvPr/>
        </p:nvSpPr>
        <p:spPr>
          <a:xfrm>
            <a:off x="11062351" y="18223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 CAE</a:t>
            </a:r>
          </a:p>
          <a:p>
            <a:pPr algn="ctr"/>
            <a:r>
              <a:rPr lang="en-US" altLang="zh-CN" sz="1000" dirty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Workbench</a:t>
            </a:r>
            <a:endParaRPr lang="zh-CN" altLang="en-US" sz="1000" dirty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478B97-E41A-EA85-F26C-1B9F848B8533}"/>
              </a:ext>
            </a:extLst>
          </p:cNvPr>
          <p:cNvSpPr txBox="1"/>
          <p:nvPr/>
        </p:nvSpPr>
        <p:spPr>
          <a:xfrm>
            <a:off x="912431" y="1813701"/>
            <a:ext cx="3352200" cy="3447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和数据分离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脚本支持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模块插件化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接口标准化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外部几何模型、网格导入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80F35E-686B-8504-5749-8E29A41D4C81}"/>
              </a:ext>
            </a:extLst>
          </p:cNvPr>
          <p:cNvSpPr txBox="1"/>
          <p:nvPr/>
        </p:nvSpPr>
        <p:spPr>
          <a:xfrm>
            <a:off x="8454573" y="3019206"/>
            <a:ext cx="26219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 耦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A3C86C2-E951-547A-C575-7ADA93722FD7}"/>
              </a:ext>
            </a:extLst>
          </p:cNvPr>
          <p:cNvSpPr/>
          <p:nvPr/>
        </p:nvSpPr>
        <p:spPr>
          <a:xfrm>
            <a:off x="5224240" y="3293705"/>
            <a:ext cx="3025507" cy="849079"/>
          </a:xfrm>
          <a:prstGeom prst="rightArrow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0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10405392" y="63036"/>
            <a:ext cx="1122045" cy="408305"/>
          </a:xfrm>
          <a:prstGeom prst="rect">
            <a:avLst/>
          </a:prstGeom>
          <a:noFill/>
          <a:effectLst/>
        </p:spPr>
        <p:txBody>
          <a:bodyPr wrap="square" lIns="64008" tIns="32004" rIns="64008" bIns="32004" rtlCol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algn="ctr">
              <a:lnSpc>
                <a:spcPct val="100000"/>
              </a:lnSpc>
            </a:pPr>
            <a:endParaRPr lang="en-US" altLang="zh-CN" sz="2240" dirty="0">
              <a:ln w="6600">
                <a:noFill/>
                <a:prstDash val="solid"/>
              </a:ln>
              <a:solidFill>
                <a:schemeClr val="accent3"/>
              </a:solidFill>
              <a:effectLst/>
              <a:latin typeface="汉仪雅酷黑 75W" panose="020B0804020202020204" pitchFamily="34" charset="-122"/>
              <a:ea typeface="汉仪雅酷黑 75W" panose="020B0804020202020204" pitchFamily="34" charset="-122"/>
              <a:cs typeface="思源黑体 CN Light" panose="020B0300000000000000" pitchFamily="34" charset="-122"/>
              <a:sym typeface="汉仪雅酷黑 75W" panose="020B0804020202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F1D6BB-BDF3-1D1E-7AC0-759760FB034F}"/>
              </a:ext>
            </a:extLst>
          </p:cNvPr>
          <p:cNvSpPr txBox="1"/>
          <p:nvPr/>
        </p:nvSpPr>
        <p:spPr>
          <a:xfrm>
            <a:off x="2024743" y="1556656"/>
            <a:ext cx="7293428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FreeCAE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代码仓库：</a:t>
            </a:r>
            <a:r>
              <a:rPr lang="en-US" altLang="zh-CN" sz="1800" dirty="0">
                <a:hlinkClick r:id="rId4"/>
              </a:rPr>
              <a:t>https://github.com/Kinvy66/freecaeworkbench</a:t>
            </a:r>
            <a:endParaRPr lang="en-US" altLang="zh-CN" sz="1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参考项目：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hlinkClick r:id="rId5"/>
              </a:rPr>
              <a:t>FastCAE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err="1">
                <a:hlinkClick r:id="rId6"/>
              </a:rPr>
              <a:t>OpenLaser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hlinkClick r:id="rId7"/>
              </a:rPr>
              <a:t>DAWorkBench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2C8DBA-0945-F4F6-2770-C7337405C264}"/>
              </a:ext>
            </a:extLst>
          </p:cNvPr>
          <p:cNvSpPr txBox="1"/>
          <p:nvPr/>
        </p:nvSpPr>
        <p:spPr>
          <a:xfrm>
            <a:off x="7188707" y="6423354"/>
            <a:ext cx="500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站主页：</a:t>
            </a:r>
            <a:r>
              <a:rPr lang="en-US" altLang="zh-CN" dirty="0"/>
              <a:t> </a:t>
            </a:r>
            <a:r>
              <a:rPr lang="en-US" altLang="zh-CN" dirty="0">
                <a:hlinkClick r:id="rId8"/>
              </a:rPr>
              <a:t>https://space.bilibili.com/1218001833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16115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Z '" val="-2.147484E+0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2642</TotalTime>
  <Words>569</Words>
  <Application>Microsoft Office PowerPoint</Application>
  <PresentationFormat>宽屏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等线 Light</vt:lpstr>
      <vt:lpstr>汉仪雅酷黑 45W</vt:lpstr>
      <vt:lpstr>汉仪雅酷黑 75W</vt:lpstr>
      <vt:lpstr>思源黑体 CN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Kinvy</dc:creator>
  <cp:lastModifiedBy>Kinvy</cp:lastModifiedBy>
  <cp:revision>520</cp:revision>
  <dcterms:created xsi:type="dcterms:W3CDTF">2025-12-13T10:13:46Z</dcterms:created>
  <dcterms:modified xsi:type="dcterms:W3CDTF">2025-12-18T10:49:37Z</dcterms:modified>
</cp:coreProperties>
</file>